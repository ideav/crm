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ИНТЕГРАМ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0">
                <a:solidFill>
                  <a:srgbClr val="8FC3EC"/>
                </a:solidFill>
                <a:latin typeface="Calibri"/>
              </a:rPr>
              <a:t>low-code платформа на запатентованном ядре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>
                <a:solidFill>
                  <a:srgbClr val="D6E4F0"/>
                </a:solidFill>
                <a:latin typeface="Calibri"/>
              </a:rPr>
              <a:t>Продукт, который вы продаёте своим заказчикам там, где Excel уже не тянет, а заказная разработка слишком дорога.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B9D3E8"/>
                </a:solidFill>
                <a:latin typeface="Calibri"/>
              </a:rPr>
              <a:t>Реестр российского ПО Минцифры №30872   ·   Патенты РФ + US   ·   Slider-акселератор + финалист SberUp   ·   Продукт недели #1 и #3 Product 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9AB4CC"/>
                </a:solidFill>
                <a:latin typeface="Calibri"/>
              </a:rPr>
              <a:t>Партнёрская презентация · тон «due diligence продукта» — проверяемые факты, ссылки, цифры.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«Живое ТЗ»: слово клиента сразу становится приложением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A · Что это и чем отличается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От Excel-хаоса до систем корпоративного уровня — без строки кода и без чека заказной разработки.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«Как MS Excel и Access, но </a:t>
            </a:r>
            <a:r>
              <a:rPr sz="1700" b="1">
                <a:solidFill>
                  <a:srgbClr val="22303A"/>
                </a:solidFill>
                <a:latin typeface="Calibri"/>
              </a:rPr>
              <a:t>без ограничений</a:t>
            </a:r>
            <a:r>
              <a:rPr sz="1700" b="0">
                <a:solidFill>
                  <a:srgbClr val="22303A"/>
                </a:solidFill>
                <a:latin typeface="Calibri"/>
              </a:rPr>
              <a:t> по объёму, скорости, безопасности и интеграциям».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Даёт: контроль работы людей · автоматизация вычислений · защита данных (ролевая модель) · </a:t>
            </a:r>
            <a:r>
              <a:rPr sz="1700" b="1">
                <a:solidFill>
                  <a:srgbClr val="22303A"/>
                </a:solidFill>
                <a:latin typeface="Calibri"/>
              </a:rPr>
              <a:t>не тормозит на любых объёмах</a:t>
            </a:r>
            <a:r>
              <a:rPr sz="170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Всё проверяется вживую и документируется по ходу — не нужно вычитывать спецификации.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В основе — квинтетная модель данных (QDM)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A · Что это и чем отличается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Не реляционка и не голый EAV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Квинтет — атомарная единица: идентификатор · тип · значение · родитель · порядок. Одна таблица вместо сотен, метаданные встроены в данные.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Гибкость EAV </a:t>
            </a:r>
            <a:r>
              <a:rPr sz="1550" b="1">
                <a:solidFill>
                  <a:srgbClr val="22303A"/>
                </a:solidFill>
                <a:latin typeface="Calibri"/>
              </a:rPr>
              <a:t>без</a:t>
            </a:r>
            <a:r>
              <a:rPr sz="1550" b="0">
                <a:solidFill>
                  <a:srgbClr val="22303A"/>
                </a:solidFill>
                <a:latin typeface="Calibri"/>
              </a:rPr>
              <a:t> его болезни: выборка идёт по индексу (B-деревья), а не сканом → скорость </a:t>
            </a:r>
            <a:r>
              <a:rPr sz="1550" b="1">
                <a:solidFill>
                  <a:srgbClr val="22303A"/>
                </a:solidFill>
                <a:latin typeface="Calibri"/>
              </a:rPr>
              <a:t>не падает</a:t>
            </a:r>
            <a:r>
              <a:rPr sz="1550" b="0">
                <a:solidFill>
                  <a:srgbClr val="22303A"/>
                </a:solidFill>
                <a:latin typeface="Calibri"/>
              </a:rPr>
              <a:t> с ростом объёма.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Предельная унификация: преимущества РСУБД, NoSQL и колоночных БД; масштаб — распределением по префиксам ID.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Защита: патенты </a:t>
            </a:r>
            <a:r>
              <a:rPr sz="1550" b="1">
                <a:solidFill>
                  <a:srgbClr val="22303A"/>
                </a:solidFill>
                <a:latin typeface="Calibri"/>
              </a:rPr>
              <a:t>RU 2650032 C1</a:t>
            </a:r>
            <a:r>
              <a:rPr sz="1550" b="0">
                <a:solidFill>
                  <a:srgbClr val="22303A"/>
                </a:solidFill>
                <a:latin typeface="Calibri"/>
              </a:rPr>
              <a:t> и </a:t>
            </a:r>
            <a:r>
              <a:rPr sz="1550" b="1">
                <a:solidFill>
                  <a:srgbClr val="22303A"/>
                </a:solidFill>
                <a:latin typeface="Calibri"/>
              </a:rPr>
              <a:t>US 11138174 B2</a:t>
            </a:r>
            <a:r>
              <a:rPr sz="1550" b="0">
                <a:solidFill>
                  <a:srgbClr val="22303A"/>
                </a:solidFill>
                <a:latin typeface="Calibri"/>
              </a:rPr>
              <a:t> (одна семья, приоритет 2017, US до 2038). QDM защищён, ядро — открыто.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69B8E"/>
                </a:solidFill>
                <a:latin typeface="Calibri"/>
              </a:rPr>
              <a:t>•  </a:t>
            </a:r>
            <a:r>
              <a:rPr sz="1550" b="1">
                <a:solidFill>
                  <a:srgbClr val="0E5A8F"/>
                </a:solidFill>
                <a:latin typeface="Calibri"/>
              </a:rPr>
              <a:t>Конкуренты строят конструкторы поверх реляционки/EAV и упираются в потолок по объёму и логике. Мы — нет.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Статья про квинтет — habr.com/ru/companies/neoflex/articles/433058/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Два захода: заменяем Excel — или становимся ключевой системой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A · Что это и чем отличается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88D3"/>
                </a:solidFill>
                <a:latin typeface="Calibri"/>
              </a:rPr>
              <a:t>•  </a:t>
            </a:r>
            <a:r>
              <a:rPr sz="1500" b="1">
                <a:solidFill>
                  <a:srgbClr val="22303A"/>
                </a:solidFill>
                <a:latin typeface="Calibri"/>
              </a:rPr>
              <a:t>Направление 1 — замена Excel</a:t>
            </a:r>
            <a:r>
              <a:rPr sz="1500" b="0">
                <a:solidFill>
                  <a:srgbClr val="22303A"/>
                </a:solidFill>
                <a:latin typeface="Calibri"/>
              </a:rPr>
              <a:t> (сателлиты): BI, аналитика, планирование, оперативные учётки вокруг основной системы. В корпорациях — основной заход: низкий риск, короткий цикл.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88D3"/>
                </a:solidFill>
                <a:latin typeface="Calibri"/>
              </a:rPr>
              <a:t>•  </a:t>
            </a:r>
            <a:r>
              <a:rPr sz="1500" b="1">
                <a:solidFill>
                  <a:srgbClr val="22303A"/>
                </a:solidFill>
                <a:latin typeface="Calibri"/>
              </a:rPr>
              <a:t>Направление 2 — замена ключевой системы</a:t>
            </a:r>
            <a:r>
              <a:rPr sz="1500" b="0">
                <a:solidFill>
                  <a:srgbClr val="22303A"/>
                </a:solidFill>
                <a:latin typeface="Calibri"/>
              </a:rPr>
              <a:t> (МСБ): производство и глобальное планирование, CRM, ERP. Крупный чек, глубокая интеграция.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80360"/>
          <a:ext cx="11548872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3931920"/>
                <a:gridCol w="377647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Крупные корпорации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Малый и средний бизнес (МСБ)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03A"/>
                          </a:solidFill>
                          <a:latin typeface="Calibri"/>
                        </a:rPr>
                        <a:t>Замена Excel
(BI, аналитика, планирование, сателлиты)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9D55"/>
                          </a:solidFill>
                          <a:latin typeface="Calibri"/>
                        </a:rPr>
                        <a:t>✓ основной заход — вокруг ядра всегда «зоопарк» Excel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9D55"/>
                          </a:solidFill>
                          <a:latin typeface="Calibri"/>
                        </a:rPr>
                        <a:t>✓ да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303A"/>
                          </a:solidFill>
                          <a:latin typeface="Calibri"/>
                        </a:rPr>
                        <a:t>Замена ключевой системы
(производство, планирование, CRM, ERP)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A"/>
                          </a:solidFill>
                          <a:latin typeface="Calibri"/>
                        </a:rPr>
                        <a:t>реже — есть свой контур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9D55"/>
                          </a:solidFill>
                          <a:latin typeface="Calibri"/>
                        </a:rPr>
                        <a:t>✓ можем стать core-системой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solidFill>
            <a:srgbClr val="D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>
                <a:solidFill>
                  <a:srgbClr val="0E5A8F"/>
                </a:solidFill>
                <a:latin typeface="Calibri"/>
              </a:rPr>
              <a:t>Оба захода — на одном и том же ядре.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Ядро открывает то, что конструкторам недоступно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B · Что даёт 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Несколько ярких примеров — их у нас гораздо больше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1.  </a:t>
            </a:r>
            <a:r>
              <a:rPr sz="1600" b="0">
                <a:solidFill>
                  <a:srgbClr val="22303A"/>
                </a:solidFill>
                <a:latin typeface="Calibri"/>
              </a:rPr>
              <a:t>Поиск/фильтр по любому полю на </a:t>
            </a:r>
            <a:r>
              <a:rPr sz="1600" b="1">
                <a:solidFill>
                  <a:srgbClr val="22303A"/>
                </a:solidFill>
                <a:latin typeface="Calibri"/>
              </a:rPr>
              <a:t>миллиардах записей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2.  </a:t>
            </a:r>
            <a:r>
              <a:rPr sz="1600" b="0">
                <a:solidFill>
                  <a:srgbClr val="22303A"/>
                </a:solidFill>
                <a:latin typeface="Calibri"/>
              </a:rPr>
              <a:t>Сопоставление номенклатур (matching) без Elasticsearch и разработчиков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3.  </a:t>
            </a:r>
            <a:r>
              <a:rPr sz="1600" b="0">
                <a:solidFill>
                  <a:srgbClr val="22303A"/>
                </a:solidFill>
                <a:latin typeface="Calibri"/>
              </a:rPr>
              <a:t>Память ИИ-агента: вектор + граф + бизнес-данные </a:t>
            </a:r>
            <a:r>
              <a:rPr sz="1600" b="1">
                <a:solidFill>
                  <a:srgbClr val="22303A"/>
                </a:solidFill>
                <a:latin typeface="Calibri"/>
              </a:rPr>
              <a:t>в одной БД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4.  </a:t>
            </a:r>
            <a:r>
              <a:rPr sz="1600" b="0">
                <a:solidFill>
                  <a:srgbClr val="22303A"/>
                </a:solidFill>
                <a:latin typeface="Calibri"/>
              </a:rPr>
              <a:t>Минимальный разрыв с языком бизнеса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500"/>
              </a:spcAft>
            </a:pPr>
            <a:r>
              <a:rPr sz="1300" b="1">
                <a:solidFill>
                  <a:srgbClr val="6A7886"/>
                </a:solidFill>
                <a:latin typeface="Calibri"/>
              </a:rPr>
              <a:t>•  </a:t>
            </a:r>
            <a:r>
              <a:rPr sz="1300" b="0">
                <a:solidFill>
                  <a:srgbClr val="6A7886"/>
                </a:solidFill>
                <a:latin typeface="Calibri"/>
              </a:rPr>
              <a:t>И это не всё: вычисляемые колонки (LOOKUP/ROLLUP/FORMULA) · шаблонизатор форм · сотни одновременных пользователей · ролевая модель и права · история и откат · автоматизации · вебхуки · импорт батчем (50k за ~30 с) · on-prem · производственное планирование.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600" b="1">
                <a:solidFill>
                  <a:srgbClr val="169B8E"/>
                </a:solidFill>
                <a:latin typeface="Calibri"/>
              </a:rPr>
              <a:t>•  </a:t>
            </a:r>
            <a:r>
              <a:rPr sz="1600" b="1">
                <a:solidFill>
                  <a:srgbClr val="0E5A8F"/>
                </a:solidFill>
                <a:latin typeface="Calibri"/>
              </a:rPr>
              <a:t>Почти каждый такой пример традиционно — отдельный проект на недели/месяцы и команда инженеров.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Пример 1: фильтр по любому полю — на миллиардах записей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B · Что даёт 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Без денормализации, без Elasticsearch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1">
                <a:solidFill>
                  <a:srgbClr val="22303A"/>
                </a:solidFill>
                <a:latin typeface="Calibri"/>
              </a:rPr>
              <a:t>32 млрд записей / 4,5+ ТБ</a:t>
            </a:r>
            <a:r>
              <a:rPr sz="1550" b="0">
                <a:solidFill>
                  <a:srgbClr val="22303A"/>
                </a:solidFill>
                <a:latin typeface="Calibri"/>
              </a:rPr>
              <a:t> в одной модели (нагрузочный тест), 703+ млн бизнес-транзакций.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Точный поиск по 700 млн записей — </a:t>
            </a:r>
            <a:r>
              <a:rPr sz="1550" b="1">
                <a:solidFill>
                  <a:srgbClr val="22303A"/>
                </a:solidFill>
                <a:latin typeface="Calibri"/>
              </a:rPr>
              <a:t>0,77 с</a:t>
            </a:r>
            <a:r>
              <a:rPr sz="1550" b="0">
                <a:solidFill>
                  <a:srgbClr val="22303A"/>
                </a:solidFill>
                <a:latin typeface="Calibri"/>
              </a:rPr>
              <a:t>; фильтр по 1 из 45 полей — </a:t>
            </a:r>
            <a:r>
              <a:rPr sz="1550" b="1">
                <a:solidFill>
                  <a:srgbClr val="22303A"/>
                </a:solidFill>
                <a:latin typeface="Calibri"/>
              </a:rPr>
              <a:t>1,28 с</a:t>
            </a:r>
            <a:r>
              <a:rPr sz="1550" b="0">
                <a:solidFill>
                  <a:srgbClr val="22303A"/>
                </a:solidFill>
                <a:latin typeface="Calibri"/>
              </a:rPr>
              <a:t> на нагруженной базе (~5000 tps).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Загрузка </a:t>
            </a:r>
            <a:r>
              <a:rPr sz="1550" b="1">
                <a:solidFill>
                  <a:srgbClr val="22303A"/>
                </a:solidFill>
                <a:latin typeface="Calibri"/>
              </a:rPr>
              <a:t>~5000 транзакций/с</a:t>
            </a:r>
            <a:r>
              <a:rPr sz="1550" b="0">
                <a:solidFill>
                  <a:srgbClr val="22303A"/>
                </a:solidFill>
                <a:latin typeface="Calibri"/>
              </a:rPr>
              <a:t> (32 ядра), без деградации вставки при кратном росте.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6A7886"/>
                </a:solidFill>
                <a:latin typeface="Calibri"/>
              </a:rPr>
              <a:t>Традиционно: денормализация под каждый запрос, Elasticsearch-кластер, шардинг, команда DBA — для no-code классически «нерешаемо».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Контраст: Excel — 1 млн строк, Google Sheets — ~155 тыс. У нас — </a:t>
            </a:r>
            <a:r>
              <a:rPr sz="1550" b="1">
                <a:solidFill>
                  <a:srgbClr val="22303A"/>
                </a:solidFill>
                <a:latin typeface="Calibri"/>
              </a:rPr>
              <a:t>безлимит</a:t>
            </a:r>
            <a:r>
              <a:rPr sz="1550" b="0">
                <a:solidFill>
                  <a:srgbClr val="22303A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habr.com/ru/articles/900308/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Пример 2: сопоставить чужой каталог с нашей номенклатурой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B · Что даёт 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За часы, а не недели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Задача: каталог контрагента (22 тыс. позиций) ↔ свои номенклатуры (сотни тысяч) при разных названиях одного товара.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Решение: токенизация названий (regex от ИИ) → справочник токенов → связь «многие-ко-многим» с оценкой качества.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1">
                <a:solidFill>
                  <a:srgbClr val="22303A"/>
                </a:solidFill>
                <a:latin typeface="Calibri"/>
              </a:rPr>
              <a:t>120–160 сопоставлений/мин, полный каталог за 2–3 часа</a:t>
            </a:r>
            <a:r>
              <a:rPr sz="1550" b="0">
                <a:solidFill>
                  <a:srgbClr val="22303A"/>
                </a:solidFill>
                <a:latin typeface="Calibri"/>
              </a:rPr>
              <a:t>, топ-10 кандидатов на позицию; спорное дочищает LLM. Всё на no-code.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6A7886"/>
                </a:solidFill>
                <a:latin typeface="Calibri"/>
              </a:rPr>
              <a:t>Традиционно: ETL + Elasticsearch + отдельный проект разработки. Конструктор такого не умеет.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E88D3"/>
                </a:solidFill>
                <a:latin typeface="Calibri"/>
              </a:rPr>
              <a:t>•  </a:t>
            </a:r>
            <a:r>
              <a:rPr sz="1550" b="0">
                <a:solidFill>
                  <a:srgbClr val="22303A"/>
                </a:solidFill>
                <a:latin typeface="Calibri"/>
              </a:rPr>
              <a:t>Уже реализовано и опубликовано — готовый кейс для заказчика.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habr.com/ru/articles/1055368/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Пример 3: память ИИ-агента (VecMory)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B · Что даёт 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Вектор, граф и бизнес-данные — в одной БД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0">
                <a:solidFill>
                  <a:srgbClr val="22303A"/>
                </a:solidFill>
                <a:latin typeface="Calibri"/>
              </a:rPr>
              <a:t>Обычно это </a:t>
            </a:r>
            <a:r>
              <a:rPr sz="1450" b="1">
                <a:solidFill>
                  <a:srgbClr val="22303A"/>
                </a:solidFill>
                <a:latin typeface="Calibri"/>
              </a:rPr>
              <a:t>три хранилища</a:t>
            </a:r>
            <a:r>
              <a:rPr sz="1450" b="0">
                <a:solidFill>
                  <a:srgbClr val="22303A"/>
                </a:solidFill>
                <a:latin typeface="Calibri"/>
              </a:rPr>
              <a:t> (вектор-СУБД + граф-СУБД + реляционка) — их надо синхронизировать и обслуживать. У нас — одна модель.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0">
                <a:solidFill>
                  <a:srgbClr val="22303A"/>
                </a:solidFill>
                <a:latin typeface="Calibri"/>
              </a:rPr>
              <a:t>Граф «симптом → причина → фикс»: агент помнит, </a:t>
            </a:r>
            <a:r>
              <a:rPr sz="1450" b="1">
                <a:solidFill>
                  <a:srgbClr val="22303A"/>
                </a:solidFill>
                <a:latin typeface="Calibri"/>
              </a:rPr>
              <a:t>на чём уже спотыкался</a:t>
            </a:r>
            <a:r>
              <a:rPr sz="145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0">
                <a:solidFill>
                  <a:srgbClr val="22303A"/>
                </a:solidFill>
                <a:latin typeface="Calibri"/>
              </a:rPr>
              <a:t>Сбор цепочки причинности — </a:t>
            </a:r>
            <a:r>
              <a:rPr sz="1450" b="1">
                <a:solidFill>
                  <a:srgbClr val="22303A"/>
                </a:solidFill>
                <a:latin typeface="Calibri"/>
              </a:rPr>
              <a:t>один серверный вызов ~0,3 с</a:t>
            </a:r>
            <a:r>
              <a:rPr sz="1450" b="0">
                <a:solidFill>
                  <a:srgbClr val="22303A"/>
                </a:solidFill>
                <a:latin typeface="Calibri"/>
              </a:rPr>
              <a:t> (против ~33 с клиентского обхода).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0">
                <a:solidFill>
                  <a:srgbClr val="22303A"/>
                </a:solidFill>
                <a:latin typeface="Calibri"/>
              </a:rPr>
              <a:t>Сублинейный поиск: </a:t>
            </a:r>
            <a:r>
              <a:rPr sz="1450" b="1">
                <a:solidFill>
                  <a:srgbClr val="22303A"/>
                </a:solidFill>
                <a:latin typeface="Calibri"/>
              </a:rPr>
              <a:t>×12</a:t>
            </a:r>
            <a:r>
              <a:rPr sz="1450" b="0">
                <a:solidFill>
                  <a:srgbClr val="22303A"/>
                </a:solidFill>
                <a:latin typeface="Calibri"/>
              </a:rPr>
              <a:t> при N=5 000 (recall@1 = 1.0), </a:t>
            </a:r>
            <a:r>
              <a:rPr sz="1450" b="1">
                <a:solidFill>
                  <a:srgbClr val="22303A"/>
                </a:solidFill>
                <a:latin typeface="Calibri"/>
              </a:rPr>
              <a:t>×86</a:t>
            </a:r>
            <a:r>
              <a:rPr sz="1450" b="0">
                <a:solidFill>
                  <a:srgbClr val="22303A"/>
                </a:solidFill>
                <a:latin typeface="Calibri"/>
              </a:rPr>
              <a:t> при N=50 000.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0">
                <a:solidFill>
                  <a:srgbClr val="6A7886"/>
                </a:solidFill>
                <a:latin typeface="Calibri"/>
              </a:rPr>
              <a:t>TCO про людей: Pinecone/Qdrant + Neo4j + Postgres = </a:t>
            </a:r>
            <a:r>
              <a:rPr sz="1450" b="1">
                <a:solidFill>
                  <a:srgbClr val="6A7886"/>
                </a:solidFill>
                <a:latin typeface="Calibri"/>
              </a:rPr>
              <a:t>+0,1–0,3 FTE DevOps/DBA</a:t>
            </a:r>
            <a:r>
              <a:rPr sz="1450" b="0">
                <a:solidFill>
                  <a:srgbClr val="6A7886"/>
                </a:solidFill>
                <a:latin typeface="Calibri"/>
              </a:rPr>
              <a:t> (≈250–500 тыс ₽/мес). У нас ≈ 0 сверх платформы.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vecmory/summary_vm.md в github.com/ideav/crm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Пример 4: система говорит на языке 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B · Что даёт 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Без «Клиент → tbl_cust_main»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Проблема: семантический разрыв «бизнес говорит одно — код называет другое» тормозит внедрение и плодит ошибки.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Решение: сущности — бизнес-термины («Проект», «Задача», «Исполнитель»). Аналитик описывает предметку словами — система строит базу с теми же терминами и связями.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Даёт: быстрый онбординг, меньше ошибок, запросы на бизнес-языке. Задел на будущее — </a:t>
            </a:r>
            <a:r>
              <a:rPr sz="1600" b="1">
                <a:solidFill>
                  <a:srgbClr val="22303A"/>
                </a:solidFill>
                <a:latin typeface="Calibri"/>
              </a:rPr>
              <a:t>ИИ работает с бизнес-логикой напрямую</a:t>
            </a:r>
            <a:r>
              <a:rPr sz="1600" b="0">
                <a:solidFill>
                  <a:srgbClr val="22303A"/>
                </a:solidFill>
                <a:latin typeface="Calibri"/>
              </a:rPr>
              <a:t>, без слоя перевода.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6A7886"/>
                </a:solidFill>
                <a:latin typeface="Calibri"/>
              </a:rPr>
              <a:t>Традиционно: аналитик → ТЗ → разработчик → БД с техническими именами; каждый переход теряет смысл и деньги.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habr.com/ru/articles/982120/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Другие конструкторы так не могут — по трём причинам сразу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B · Что даёт 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1E88D3"/>
                </a:solidFill>
                <a:latin typeface="Calibri"/>
              </a:rPr>
              <a:t>•  </a:t>
            </a:r>
            <a:r>
              <a:rPr sz="2000" b="0">
                <a:solidFill>
                  <a:srgbClr val="22303A"/>
                </a:solidFill>
                <a:latin typeface="Calibri"/>
              </a:rPr>
              <a:t>Хранить </a:t>
            </a:r>
            <a:r>
              <a:rPr sz="2000" b="1">
                <a:solidFill>
                  <a:srgbClr val="22303A"/>
                </a:solidFill>
                <a:latin typeface="Calibri"/>
              </a:rPr>
              <a:t>сотни миллионов+</a:t>
            </a:r>
            <a:r>
              <a:rPr sz="2000" b="0">
                <a:solidFill>
                  <a:srgbClr val="22303A"/>
                </a:solidFill>
                <a:latin typeface="Calibri"/>
              </a:rPr>
              <a:t> записей.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1E88D3"/>
                </a:solidFill>
                <a:latin typeface="Calibri"/>
              </a:rPr>
              <a:t>•  </a:t>
            </a:r>
            <a:r>
              <a:rPr sz="2000" b="0">
                <a:solidFill>
                  <a:srgbClr val="22303A"/>
                </a:solidFill>
                <a:latin typeface="Calibri"/>
              </a:rPr>
              <a:t>Реализовывать </a:t>
            </a:r>
            <a:r>
              <a:rPr sz="2000" b="1">
                <a:solidFill>
                  <a:srgbClr val="22303A"/>
                </a:solidFill>
                <a:latin typeface="Calibri"/>
              </a:rPr>
              <a:t>сложную логику расчётов без кода</a:t>
            </a:r>
            <a:r>
              <a:rPr sz="200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1E88D3"/>
                </a:solidFill>
                <a:latin typeface="Calibri"/>
              </a:rPr>
              <a:t>•  </a:t>
            </a:r>
            <a:r>
              <a:rPr sz="2000" b="0">
                <a:solidFill>
                  <a:srgbClr val="22303A"/>
                </a:solidFill>
                <a:latin typeface="Calibri"/>
              </a:rPr>
              <a:t>Держать </a:t>
            </a:r>
            <a:r>
              <a:rPr sz="2000" b="1">
                <a:solidFill>
                  <a:srgbClr val="22303A"/>
                </a:solidFill>
                <a:latin typeface="Calibri"/>
              </a:rPr>
              <a:t>десятки/сотни пользователей</a:t>
            </a:r>
            <a:r>
              <a:rPr sz="2000" b="0">
                <a:solidFill>
                  <a:srgbClr val="22303A"/>
                </a:solidFill>
                <a:latin typeface="Calibri"/>
              </a:rPr>
              <a:t> одновременно.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39"/>
            <a:ext cx="11185855" cy="1554480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1153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Calibri"/>
              </a:rPr>
              <a:t>Это лишь несколько примеров — их гораздо больше. Традиционное решение = кратно больше ресурсов и сложности; конструктором не решается практически никогда. Значит, вы берёте проекты, от которых отказываются другие.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73% бизнес-задач живут в Excel. Это дорого и опасно.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Слабая дисциплина процессов.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Потери из-за ручного ввода.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Дорогие доработки руками программистов.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Кражи / повреждения данных (в т.ч. ПДн).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Ограниченность обычного low-code.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500"/>
              </a:spcAft>
            </a:pPr>
            <a:r>
              <a:rPr sz="1700" b="1">
                <a:solidFill>
                  <a:srgbClr val="169B8E"/>
                </a:solidFill>
                <a:latin typeface="Calibri"/>
              </a:rPr>
              <a:t>•  </a:t>
            </a:r>
            <a:r>
              <a:rPr sz="1700" b="1">
                <a:solidFill>
                  <a:srgbClr val="0E5A8F"/>
                </a:solidFill>
                <a:latin typeface="Calibri"/>
              </a:rPr>
              <a:t>McKinsey / BCG / Bain — до </a:t>
            </a:r>
            <a:r>
              <a:rPr sz="1700" b="1">
                <a:solidFill>
                  <a:srgbClr val="0E5A8F"/>
                </a:solidFill>
                <a:latin typeface="Calibri"/>
              </a:rPr>
              <a:t>20–30% рабочего времени</a:t>
            </a:r>
            <a:r>
              <a:rPr sz="1700" b="1">
                <a:solidFill>
                  <a:srgbClr val="0E5A8F"/>
                </a:solidFill>
                <a:latin typeface="Calibri"/>
              </a:rPr>
              <a:t> уходит на поиск, согласования, рутину.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Любой интерфейс — от таблицы-замены Excel до профессиональной вёрстки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Схематичная вёрстка — быстрый рабочий экран (замена Excel/Airtable).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Профессиональная вёрстка — клиентский UI.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Адаптив под мобильные.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1E88D3"/>
                </a:solidFill>
                <a:latin typeface="Calibri"/>
              </a:rPr>
              <a:t>•  </a:t>
            </a:r>
            <a:r>
              <a:rPr sz="1700" b="0">
                <a:solidFill>
                  <a:srgbClr val="22303A"/>
                </a:solidFill>
                <a:latin typeface="Calibri"/>
              </a:rPr>
              <a:t>Формы, отчёты, файлы, права — из коробки.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Решения: пять реальных проектов на Интеграме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Не демо, а работающие системы — от планирования производства до цифрового двойника отрасли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1.  </a:t>
            </a:r>
            <a:r>
              <a:rPr sz="1600" b="1">
                <a:solidFill>
                  <a:srgbClr val="22303A"/>
                </a:solidFill>
                <a:latin typeface="Calibri"/>
              </a:rPr>
              <a:t>Планирование производства (резка)</a:t>
            </a:r>
            <a:r>
              <a:rPr sz="1600" b="0">
                <a:solidFill>
                  <a:srgbClr val="22303A"/>
                </a:solidFill>
                <a:latin typeface="Calibri"/>
              </a:rPr>
              <a:t> — оптимальный план вместо 3 дней ручной работы · ключевая система → слайд 14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2.  </a:t>
            </a:r>
            <a:r>
              <a:rPr sz="1600" b="1">
                <a:solidFill>
                  <a:srgbClr val="22303A"/>
                </a:solidFill>
                <a:latin typeface="Calibri"/>
              </a:rPr>
              <a:t>Единый дэшборд руководителя</a:t>
            </a:r>
            <a:r>
              <a:rPr sz="1600" b="0">
                <a:solidFill>
                  <a:srgbClr val="22303A"/>
                </a:solidFill>
                <a:latin typeface="Calibri"/>
              </a:rPr>
              <a:t> — 13 закладок, автосбор и кросс-валидация · замена Excel → слайд 15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3.  </a:t>
            </a:r>
            <a:r>
              <a:rPr sz="1600" b="1">
                <a:solidFill>
                  <a:srgbClr val="22303A"/>
                </a:solidFill>
                <a:latin typeface="Calibri"/>
              </a:rPr>
              <a:t>Мобильное РМ оператора (вендинг воды)</a:t>
            </a:r>
            <a:r>
              <a:rPr sz="1600" b="0">
                <a:solidFill>
                  <a:srgbClr val="22303A"/>
                </a:solidFill>
                <a:latin typeface="Calibri"/>
              </a:rPr>
              <a:t> — рутина сведена к нулю · ключевая система → слайд 16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4.  </a:t>
            </a:r>
            <a:r>
              <a:rPr sz="1600" b="1">
                <a:solidFill>
                  <a:srgbClr val="22303A"/>
                </a:solidFill>
                <a:latin typeface="Calibri"/>
              </a:rPr>
              <a:t>Поточный рекрутинг</a:t>
            </a:r>
            <a:r>
              <a:rPr sz="1600" b="0">
                <a:solidFill>
                  <a:srgbClr val="22303A"/>
                </a:solidFill>
                <a:latin typeface="Calibri"/>
              </a:rPr>
              <a:t> — 85 тыс. вакансий с HH.ru, 200–300 чел/нед · ключевая система → слайд 17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5.  </a:t>
            </a:r>
            <a:r>
              <a:rPr sz="1600" b="1">
                <a:solidFill>
                  <a:srgbClr val="22303A"/>
                </a:solidFill>
                <a:latin typeface="Calibri"/>
              </a:rPr>
              <a:t>Дронономика</a:t>
            </a:r>
            <a:r>
              <a:rPr sz="1600" b="0">
                <a:solidFill>
                  <a:srgbClr val="22303A"/>
                </a:solidFill>
                <a:latin typeface="Calibri"/>
              </a:rPr>
              <a:t> — цифровой двойник отрасли на онтологиях · уникальный класс → слайд 18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500"/>
              </a:spcAft>
            </a:pPr>
            <a:r>
              <a:rPr sz="1600" b="1">
                <a:solidFill>
                  <a:srgbClr val="169B8E"/>
                </a:solidFill>
                <a:latin typeface="Calibri"/>
              </a:rPr>
              <a:t>•  </a:t>
            </a:r>
            <a:r>
              <a:rPr sz="1600" b="1">
                <a:solidFill>
                  <a:srgbClr val="0E5A8F"/>
                </a:solidFill>
                <a:latin typeface="Calibri"/>
              </a:rPr>
              <a:t>Уже сделано и работает — конкретные референсы. Каждый кейс ложится в один из форматов (слайд 20) и одно из двух направлений (слайд 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Кейс 1: Планирование производства (резка)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3 дня ручного планирования → оптимальный план за один прогон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4572000" cy="45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Было:</a:t>
            </a:r>
            <a:r>
              <a:rPr sz="1450" b="0">
                <a:solidFill>
                  <a:srgbClr val="22303A"/>
                </a:solidFill>
                <a:latin typeface="Calibri"/>
              </a:rPr>
              <a:t> планирование и перепланирование 5–7 дней производства занимало 3 рабочих дня ручного труда мастера.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Что сделали:</a:t>
            </a:r>
            <a:r>
              <a:rPr sz="1450" b="0">
                <a:solidFill>
                  <a:srgbClr val="22303A"/>
                </a:solidFill>
                <a:latin typeface="Calibri"/>
              </a:rPr>
              <a:t> оптимальный план по множеству факторов с весами — переналадка станков, смена сырья, порядок операций, с учётом физиологии человека и техники станков/сырья.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Эффект:</a:t>
            </a:r>
            <a:r>
              <a:rPr sz="1450" b="0">
                <a:solidFill>
                  <a:srgbClr val="22303A"/>
                </a:solidFill>
                <a:latin typeface="Calibri"/>
              </a:rPr>
              <a:t> план за один прогон и перестройка на лету; освобождены 3 рабочих дня цикла.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Направление:</a:t>
            </a:r>
            <a:r>
              <a:rPr sz="1450" b="0">
                <a:solidFill>
                  <a:srgbClr val="22303A"/>
                </a:solidFill>
                <a:latin typeface="Calibri"/>
              </a:rPr>
              <a:t> ключевая система (операционное ядро производства).</a:t>
            </a:r>
          </a:p>
        </p:txBody>
      </p:sp>
      <p:pic>
        <p:nvPicPr>
          <p:cNvPr id="8" name="Picture 7" descr="case-1-plann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929576"/>
            <a:ext cx="3017300" cy="1913247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pic>
        <p:nvPicPr>
          <p:cNvPr id="9" name="Picture 8" descr="case-1-planning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132" y="2929576"/>
            <a:ext cx="3203362" cy="1913247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скриншоты — из боевого рабочего места; заказчик под NDA. Код и полный алгоритм планирования открыты — github.com/ideav/crm.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Кейс 2: Единый дэшборд руководителя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13 разрозненных отчётов → один дэшборд с автосбором и кросс-валидацией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4572000" cy="45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Было:</a:t>
            </a:r>
            <a:r>
              <a:rPr sz="1450" b="0">
                <a:solidFill>
                  <a:srgbClr val="22303A"/>
                </a:solidFill>
                <a:latin typeface="Calibri"/>
              </a:rPr>
              <a:t> разрозненные материалы на оперативке; дублирующий ручной ввод, нет контроля полноты.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Что сделали:</a:t>
            </a:r>
            <a:r>
              <a:rPr sz="1450" b="0">
                <a:solidFill>
                  <a:srgbClr val="22303A"/>
                </a:solidFill>
                <a:latin typeface="Calibri"/>
              </a:rPr>
              <a:t> 13 закладок (отделы + инвесторские + сводная). Автосбор из Битрикс24 и Google Sheets; загрузка из 1С и Excel; кросс-валидация источников.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Эффект:</a:t>
            </a:r>
            <a:r>
              <a:rPr sz="1450" b="0">
                <a:solidFill>
                  <a:srgbClr val="22303A"/>
                </a:solidFill>
                <a:latin typeface="Calibri"/>
              </a:rPr>
              <a:t> устранён дублирующий ввод; автоматический контроль полноты данных.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Направление:</a:t>
            </a:r>
            <a:r>
              <a:rPr sz="1450" b="0">
                <a:solidFill>
                  <a:srgbClr val="22303A"/>
                </a:solidFill>
                <a:latin typeface="Calibri"/>
              </a:rPr>
              <a:t> замена Excel (BI-сателлит вокруг основной системы).</a:t>
            </a:r>
          </a:p>
        </p:txBody>
      </p:sp>
      <p:pic>
        <p:nvPicPr>
          <p:cNvPr id="8" name="Picture 7" descr="case-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162295"/>
            <a:ext cx="3166230" cy="1813569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pic>
        <p:nvPicPr>
          <p:cNvPr id="9" name="Picture 8" descr="connector-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062" y="3162295"/>
            <a:ext cx="3054432" cy="1813569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Кейс 3: Мобильное РМ оператора (вендинг воды)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Обслуживание автоматов с телефона — рутина сведена к нулю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4572000" cy="45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Было:</a:t>
            </a:r>
            <a:r>
              <a:rPr sz="1450" b="0">
                <a:solidFill>
                  <a:srgbClr val="22303A"/>
                </a:solidFill>
                <a:latin typeface="Calibri"/>
              </a:rPr>
              <a:t> копирование данных, ручное планирование задач, сбор отчётов и статистики по аппаратам вручную.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Что сделали:</a:t>
            </a:r>
            <a:r>
              <a:rPr sz="1450" b="0">
                <a:solidFill>
                  <a:srgbClr val="22303A"/>
                </a:solidFill>
                <a:latin typeface="Calibri"/>
              </a:rPr>
              <a:t> мобильное рабочее место для контроля и обслуживания автоматов — задачи, отчёты и статистика в одном экране на телефоне.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Эффект:</a:t>
            </a:r>
            <a:r>
              <a:rPr sz="1450" b="0">
                <a:solidFill>
                  <a:srgbClr val="22303A"/>
                </a:solidFill>
                <a:latin typeface="Calibri"/>
              </a:rPr>
              <a:t> излишние рутинные действия сведены к нулю.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Направление:</a:t>
            </a:r>
            <a:r>
              <a:rPr sz="1450" b="0">
                <a:solidFill>
                  <a:srgbClr val="22303A"/>
                </a:solidFill>
                <a:latin typeface="Calibri"/>
              </a:rPr>
              <a:t> ключевая система (операционное ядро сервисной компании).</a:t>
            </a:r>
          </a:p>
        </p:txBody>
      </p:sp>
      <p:pic>
        <p:nvPicPr>
          <p:cNvPr id="8" name="Picture 7" descr="case-3-vending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811926"/>
            <a:ext cx="3127646" cy="2514307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pic>
        <p:nvPicPr>
          <p:cNvPr id="9" name="Picture 8" descr="case-3-vending-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478" y="2811926"/>
            <a:ext cx="1462667" cy="2514307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pic>
        <p:nvPicPr>
          <p:cNvPr id="10" name="Picture 9" descr="case-3-vending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38" y="2811926"/>
            <a:ext cx="1465756" cy="2514307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Кейс 4: Поточный рекрутинг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Ключевая система найма — за месяц, 200–300 чел/нед без лишних кликов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4572000" cy="45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Было:</a:t>
            </a:r>
            <a:r>
              <a:rPr sz="1450" b="0">
                <a:solidFill>
                  <a:srgbClr val="22303A"/>
                </a:solidFill>
                <a:latin typeface="Calibri"/>
              </a:rPr>
              <a:t> сложнейшая схема данных, этапов найма и событий; нужна 100% кастомизация под поток.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Что сделали:</a:t>
            </a:r>
            <a:r>
              <a:rPr sz="1450" b="0">
                <a:solidFill>
                  <a:srgbClr val="22303A"/>
                </a:solidFill>
                <a:latin typeface="Calibri"/>
              </a:rPr>
              <a:t> предельная унификация → разработка за 1 месяц. Аналитик правит логику и схему и тут же тестирует — цикл до минут.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Эффект:</a:t>
            </a:r>
            <a:r>
              <a:rPr sz="1450" b="0">
                <a:solidFill>
                  <a:srgbClr val="22303A"/>
                </a:solidFill>
                <a:latin typeface="Calibri"/>
              </a:rPr>
              <a:t> 35 человек одновременно, 85 тыс. вакансий с HH.ru, набор 200–300 чел/нед без лишних кликов.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Направление:</a:t>
            </a:r>
            <a:r>
              <a:rPr sz="1450" b="0">
                <a:solidFill>
                  <a:srgbClr val="22303A"/>
                </a:solidFill>
                <a:latin typeface="Calibri"/>
              </a:rPr>
              <a:t> ключевая система (найм как ядро бизнеса).</a:t>
            </a:r>
          </a:p>
        </p:txBody>
      </p:sp>
      <p:pic>
        <p:nvPicPr>
          <p:cNvPr id="8" name="Picture 7" descr="case-4-recruiting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156574"/>
            <a:ext cx="3678898" cy="1825010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pic>
        <p:nvPicPr>
          <p:cNvPr id="9" name="Picture 8" descr="case-4-recruiting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730" y="3156574"/>
            <a:ext cx="2541764" cy="1825010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Кейс 5: Дронономика — цифровой двойник отрасли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Онтологии беспилотной отрасли → живой цифровой двойник с динамическим расчётом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4572000" cy="45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Задача:</a:t>
            </a:r>
            <a:r>
              <a:rPr sz="1450" b="0">
                <a:solidFill>
                  <a:srgbClr val="22303A"/>
                </a:solidFill>
                <a:latin typeface="Calibri"/>
              </a:rPr>
              <a:t> смоделировать целую отрасль — участников, федеральное управление, экономику, производство — как единую отзывчивую модель.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Что сделали:</a:t>
            </a:r>
            <a:r>
              <a:rPr sz="1450" b="0">
                <a:solidFill>
                  <a:srgbClr val="22303A"/>
                </a:solidFill>
                <a:latin typeface="Calibri"/>
              </a:rPr>
              <a:t> загружены онтологии отрасли, федеральной структуры управления, экономики и производства → точный, отзывчивый цифровой двойник.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Эффект:</a:t>
            </a:r>
            <a:r>
              <a:rPr sz="1450" b="0">
                <a:solidFill>
                  <a:srgbClr val="22303A"/>
                </a:solidFill>
                <a:latin typeface="Calibri"/>
              </a:rPr>
              <a:t> моделирование взаимодействия всех участников с динамическим расчётом параметров — экономика, рейтинги, события, метрики.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E88D3"/>
                </a:solidFill>
                <a:latin typeface="Calibri"/>
              </a:rPr>
              <a:t>•  </a:t>
            </a:r>
            <a:r>
              <a:rPr sz="1450" b="1">
                <a:solidFill>
                  <a:srgbClr val="22303A"/>
                </a:solidFill>
                <a:latin typeface="Calibri"/>
              </a:rPr>
              <a:t>Направление:</a:t>
            </a:r>
            <a:r>
              <a:rPr sz="1450" b="0">
                <a:solidFill>
                  <a:srgbClr val="22303A"/>
                </a:solidFill>
                <a:latin typeface="Calibri"/>
              </a:rPr>
              <a:t> уникальный класс (онтологии + граф в одной модели) — мост к ядру и памяти ИИ-агента.</a:t>
            </a:r>
          </a:p>
        </p:txBody>
      </p:sp>
      <p:pic>
        <p:nvPicPr>
          <p:cNvPr id="8" name="Picture 7" descr="case-5-drone-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24540"/>
            <a:ext cx="6385255" cy="4089079"/>
          </a:xfrm>
          <a:prstGeom prst="rect">
            <a:avLst/>
          </a:prstGeom>
          <a:ln w="9525">
            <a:solidFill>
              <a:srgbClr val="CFDAE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Разворачивается у вас, работает в замкнутом контуре, переживает сбои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Развёртывание и контроль над данными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Три режима: </a:t>
            </a:r>
            <a:r>
              <a:rPr sz="1250" b="1">
                <a:solidFill>
                  <a:srgbClr val="22303A"/>
                </a:solidFill>
                <a:latin typeface="Calibri"/>
              </a:rPr>
              <a:t>SaaS</a:t>
            </a:r>
            <a:r>
              <a:rPr sz="1250" b="0">
                <a:solidFill>
                  <a:srgbClr val="22303A"/>
                </a:solidFill>
                <a:latin typeface="Calibri"/>
              </a:rPr>
              <a:t>, </a:t>
            </a:r>
            <a:r>
              <a:rPr sz="1250" b="1">
                <a:solidFill>
                  <a:srgbClr val="22303A"/>
                </a:solidFill>
                <a:latin typeface="Calibri"/>
              </a:rPr>
              <a:t>On-premise</a:t>
            </a:r>
            <a:r>
              <a:rPr sz="1250" b="0">
                <a:solidFill>
                  <a:srgbClr val="22303A"/>
                </a:solidFill>
                <a:latin typeface="Calibri"/>
              </a:rPr>
              <a:t> (docker на вашем сервере), гибрид.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Замкнутый контур: on-prem полностью изолирован от интернета (</a:t>
            </a:r>
            <a:r>
              <a:rPr sz="1250" b="1">
                <a:solidFill>
                  <a:srgbClr val="22303A"/>
                </a:solidFill>
                <a:latin typeface="Calibri"/>
              </a:rPr>
              <a:t>air-gap</a:t>
            </a:r>
            <a:r>
              <a:rPr sz="1250" b="0">
                <a:solidFill>
                  <a:srgbClr val="22303A"/>
                </a:solidFill>
                <a:latin typeface="Calibri"/>
              </a:rPr>
              <a:t>) — данные не покидают периметр.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Данные в обычной реляционной СУБД: нет вендор-лока, выгрузка со связями в любой момент.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Безопасность данных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TLS-шифрование каналов + шифрование хранилища.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Ролевая модель </a:t>
            </a:r>
            <a:r>
              <a:rPr sz="1250" b="1">
                <a:solidFill>
                  <a:srgbClr val="22303A"/>
                </a:solidFill>
                <a:latin typeface="Calibri"/>
              </a:rPr>
              <a:t>на стороне сервера</a:t>
            </a:r>
            <a:r>
              <a:rPr sz="1250" b="0">
                <a:solidFill>
                  <a:srgbClr val="22303A"/>
                </a:solidFill>
                <a:latin typeface="Calibri"/>
              </a:rPr>
              <a:t> — доступ по ролям и маскам.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Корпоративная аутентификация: </a:t>
            </a:r>
            <a:r>
              <a:rPr sz="1250" b="1">
                <a:solidFill>
                  <a:srgbClr val="22303A"/>
                </a:solidFill>
                <a:latin typeface="Calibri"/>
              </a:rPr>
              <a:t>JWT, LDAP/AD, SSO</a:t>
            </a:r>
            <a:r>
              <a:rPr sz="125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Отказоустойчивость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50" b="0">
                <a:solidFill>
                  <a:srgbClr val="22303A"/>
                </a:solidFill>
                <a:latin typeface="Calibri"/>
              </a:rPr>
              <a:t>Бэкап + </a:t>
            </a:r>
            <a:r>
              <a:rPr sz="1250" b="1">
                <a:solidFill>
                  <a:srgbClr val="22303A"/>
                </a:solidFill>
                <a:latin typeface="Calibri"/>
              </a:rPr>
              <a:t>георезерв между ЦОД</a:t>
            </a:r>
            <a:r>
              <a:rPr sz="1250" b="0">
                <a:solidFill>
                  <a:srgbClr val="22303A"/>
                </a:solidFill>
                <a:latin typeface="Calibri"/>
              </a:rPr>
              <a:t>, потоковая репликация; </a:t>
            </a:r>
            <a:r>
              <a:rPr sz="1250" b="1">
                <a:solidFill>
                  <a:srgbClr val="22303A"/>
                </a:solidFill>
                <a:latin typeface="Calibri"/>
              </a:rPr>
              <a:t>PITR</a:t>
            </a:r>
            <a:r>
              <a:rPr sz="1250" b="0">
                <a:solidFill>
                  <a:srgbClr val="22303A"/>
                </a:solidFill>
                <a:latin typeface="Calibri"/>
              </a:rPr>
              <a:t> на уровне БД; </a:t>
            </a:r>
            <a:r>
              <a:rPr sz="1250" b="1">
                <a:solidFill>
                  <a:srgbClr val="22303A"/>
                </a:solidFill>
                <a:latin typeface="Calibri"/>
              </a:rPr>
              <a:t>RPO/RTO под SLA</a:t>
            </a:r>
            <a:r>
              <a:rPr sz="125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400" b="1">
                <a:solidFill>
                  <a:srgbClr val="169B8E"/>
                </a:solidFill>
                <a:latin typeface="Calibri"/>
              </a:rPr>
              <a:t>•  </a:t>
            </a:r>
            <a:r>
              <a:rPr sz="1400" b="1">
                <a:solidFill>
                  <a:srgbClr val="0E5A8F"/>
                </a:solidFill>
                <a:latin typeface="Calibri"/>
              </a:rPr>
              <a:t>Соответствие: реестр Минцифры №30872 · аттестованное облако под </a:t>
            </a:r>
            <a:r>
              <a:rPr sz="1400" b="1">
                <a:solidFill>
                  <a:srgbClr val="0E5A8F"/>
                </a:solidFill>
                <a:latin typeface="Calibri"/>
              </a:rPr>
              <a:t>152-ФЗ и КИИ</a:t>
            </a:r>
            <a:r>
              <a:rPr sz="1400" b="1">
                <a:solidFill>
                  <a:srgbClr val="0E5A8F"/>
                </a:solidFill>
                <a:latin typeface="Calibri"/>
              </a:rPr>
              <a:t> · </a:t>
            </a:r>
            <a:r>
              <a:rPr sz="1400" b="1">
                <a:solidFill>
                  <a:srgbClr val="0E5A8F"/>
                </a:solidFill>
                <a:latin typeface="Calibri"/>
              </a:rPr>
              <a:t>223-ФЗ / 44-ФЗ</a:t>
            </a:r>
            <a:r>
              <a:rPr sz="1400" b="1">
                <a:solidFill>
                  <a:srgbClr val="0E5A8F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08192"/>
            <a:ext cx="10728655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050" b="1">
                <a:solidFill>
                  <a:srgbClr val="169B8E"/>
                </a:solidFill>
                <a:latin typeface="Calibri"/>
              </a:rPr>
              <a:t>Пруф: </a:t>
            </a:r>
            <a:r>
              <a:rPr sz="1050" b="0">
                <a:solidFill>
                  <a:srgbClr val="6A7886"/>
                </a:solidFill>
                <a:latin typeface="Calibri"/>
              </a:rPr>
              <a:t>blog.ideav.ru/posts/bezopasnost-i-otkazoustoichivost-dlya-krupnogo-biznesa/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Готовые форматы — от Excel-сателлитов до ключевых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C · Проблемы · продукт ·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Замена Excel — сателлиты, короткий цикл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22303A"/>
                </a:solidFill>
                <a:latin typeface="Calibri"/>
              </a:rPr>
              <a:t>Тип 1 — учёт договоров, платежей, рабочего времени → </a:t>
            </a:r>
            <a:r>
              <a:rPr sz="1300" b="1">
                <a:solidFill>
                  <a:srgbClr val="22303A"/>
                </a:solidFill>
                <a:latin typeface="Calibri"/>
              </a:rPr>
              <a:t>чек до 150 000 ₽</a:t>
            </a:r>
            <a:r>
              <a:rPr sz="130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22303A"/>
                </a:solidFill>
                <a:latin typeface="Calibri"/>
              </a:rPr>
              <a:t>BI / аналитика / планирование поверх выгрузок из основной системы.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Ключевая система — МСБ core, средний чек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22303A"/>
                </a:solidFill>
                <a:latin typeface="Calibri"/>
              </a:rPr>
              <a:t>Тип 2 — контроль и обслуживание аппаратов (вендинг воды) → </a:t>
            </a:r>
            <a:r>
              <a:rPr sz="1300" b="1">
                <a:solidFill>
                  <a:srgbClr val="22303A"/>
                </a:solidFill>
                <a:latin typeface="Calibri"/>
              </a:rPr>
              <a:t>чек от 150 000 ₽</a:t>
            </a:r>
            <a:r>
              <a:rPr sz="130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22303A"/>
                </a:solidFill>
                <a:latin typeface="Calibri"/>
              </a:rPr>
              <a:t>Тип 3 — рекрутинговый стартап, поток 200–500 чел. → </a:t>
            </a:r>
            <a:r>
              <a:rPr sz="1300" b="1">
                <a:solidFill>
                  <a:srgbClr val="22303A"/>
                </a:solidFill>
                <a:latin typeface="Calibri"/>
              </a:rPr>
              <a:t>чек от 500 000 ₽</a:t>
            </a:r>
            <a:r>
              <a:rPr sz="130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22303A"/>
                </a:solidFill>
                <a:latin typeface="Calibri"/>
              </a:rPr>
              <a:t>Управление производством и глобальное планирование, CRM, ERP.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Ключевая система — корпорации, крупный чек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22303A"/>
                </a:solidFill>
                <a:latin typeface="Calibri"/>
              </a:rPr>
              <a:t>Тип 4 — ИТ-сателлиты: трекеры, реестры, BI, регулярные опросы → </a:t>
            </a:r>
            <a:r>
              <a:rPr sz="1300" b="1">
                <a:solidFill>
                  <a:srgbClr val="22303A"/>
                </a:solidFill>
                <a:latin typeface="Calibri"/>
              </a:rPr>
              <a:t>чек от 5 млн ₽</a:t>
            </a:r>
            <a:r>
              <a:rPr sz="130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500"/>
              </a:spcAft>
            </a:pPr>
            <a:r>
              <a:rPr sz="1450" b="1">
                <a:solidFill>
                  <a:srgbClr val="169B8E"/>
                </a:solidFill>
                <a:latin typeface="Calibri"/>
              </a:rPr>
              <a:t>•  </a:t>
            </a:r>
            <a:r>
              <a:rPr sz="1450" b="1">
                <a:solidFill>
                  <a:srgbClr val="0E5A8F"/>
                </a:solidFill>
                <a:latin typeface="Calibri"/>
              </a:rPr>
              <a:t>Шаблоны, которые партнёр/адепт тиражирует; чек растёт со сложностью и переходом «сателлит → ключевая система».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Мы конкурируем снизу доверху — от Excel до заказной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D · Конкуренты · монетизация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183111" cy="369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554480"/>
                <a:gridCol w="1965960"/>
                <a:gridCol w="1874519"/>
                <a:gridCol w="1783080"/>
                <a:gridCol w="167335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Excel / Sheets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Airtable / Coda / Notion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Bitrix24 / 1С / ELMA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Заказная разработка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Интеграм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Предел по записям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1 млн / 155 тыс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сотни тыс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зависит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безлимит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безлимит (32 млрд проверено)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Гибкость логики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формулы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ограниченная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шаблонная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любая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любая, no-code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Сложная логика без кода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ограниченно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ограниченно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только кодом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Безопасность / роли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базовая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на сервере, по ролям и маскам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Локально / замкнутый контур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локально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on-prem + air-gap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Скорость внедрения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часы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дни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недели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месяцы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часы–дни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Стоимость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почти бесплатно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низкая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от сотен тыс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десятки тыс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303A"/>
                          </a:solidFill>
                          <a:latin typeface="Calibri"/>
                        </a:rPr>
                        <a:t>Импортозамещение / реестр РФ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часть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30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E5A8F"/>
                          </a:solidFill>
                          <a:latin typeface="Calibri"/>
                        </a:rPr>
                        <a:t>реестр Минцифры №30872</a:t>
                      </a:r>
                    </a:p>
                  </a:txBody>
                  <a:tcPr anchor="ctr" marL="64008" marR="64008" marT="18288" marB="18288">
                    <a:solidFill>
                      <a:srgbClr val="DCEC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5806440"/>
            <a:ext cx="11551615" cy="566928"/>
          </a:xfrm>
          <a:prstGeom prst="rect">
            <a:avLst/>
          </a:prstGeom>
          <a:solidFill>
            <a:srgbClr val="D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77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0E5A8F"/>
                </a:solidFill>
                <a:latin typeface="Calibri"/>
              </a:rPr>
              <a:t>Свобода и гибкость Excel без его ограничений. Новые no-code сервисы появляются часто (МТС Табс, РТ Акола, VK Доска…), но упираются в потолок объёма и логики.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Партнёрская модель: где здесь партнёр и как он зарабатывает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D · Конкуренты · монетизация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0E5A8F"/>
                </a:solidFill>
                <a:latin typeface="Calibri"/>
              </a:rPr>
              <a:t>Партнёр даёт канал и одобряет сделки; внедряют и держат поддержку адепты — доход без операционной нагрузки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7406640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92608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Роль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Что делает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На чём зарабатывает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03A"/>
                          </a:solidFill>
                          <a:latin typeface="Calibri"/>
                        </a:rPr>
                        <a:t>Платформа (Интеграм)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развивает продукт, обучает адептов, выдаёт лицензии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подписка, лицензия, 20–50% роялти с тиражных решений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03A"/>
                          </a:solidFill>
                          <a:latin typeface="Calibri"/>
                        </a:rPr>
                        <a:t>Партнёр (вы)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инициирует и одобряет сделки, приводит заказчиков и бренд; не внедряет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% с каждой оплаты клиента (40/20/15%) — без операционной нагрузки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03A"/>
                          </a:solidFill>
                          <a:latin typeface="Calibri"/>
                        </a:rPr>
                        <a:t>Адепт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собирает решение, внедряет, ведёт поддержку, отвечает за результат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оплата работы — внутри чека проекта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03A"/>
                          </a:solidFill>
                          <a:latin typeface="Calibri"/>
                        </a:rPr>
                        <a:t>Заказчик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конечный клиент партнёра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03A"/>
                          </a:solidFill>
                          <a:latin typeface="Calibri"/>
                        </a:rPr>
                        <a:t>платит за проект и поддержку; платформе — за подписку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01000" y="1783080"/>
          <a:ext cx="379476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Тип продажи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Партнёру</a:t>
                      </a:r>
                    </a:p>
                  </a:txBody>
                  <a:tcPr anchor="ctr" marL="64008" marR="64008" marT="18288" marB="18288">
                    <a:solidFill>
                      <a:srgbClr val="0B2E4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03A"/>
                          </a:solidFill>
                          <a:latin typeface="Calibri"/>
                        </a:rPr>
                        <a:t>Локальная лицензия Интеграм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03A"/>
                          </a:solidFill>
                          <a:latin typeface="Calibri"/>
                        </a:rPr>
                        <a:t>Проект автоматизации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A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anchor="ctr" marL="64008" marR="64008" marT="18288" marB="18288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303A"/>
                          </a:solidFill>
                          <a:latin typeface="Calibri"/>
                        </a:rPr>
                        <a:t>SaaS-платежи / поддержка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A"/>
                          </a:solidFill>
                          <a:latin typeface="Calibri"/>
                        </a:rPr>
                        <a:t>15 %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01000" y="3520440"/>
            <a:ext cx="3794760" cy="14630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520440"/>
            <a:ext cx="35204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0">
                <a:solidFill>
                  <a:srgbClr val="22303A"/>
                </a:solidFill>
                <a:latin typeface="Calibri"/>
              </a:rPr>
              <a:t>Плата платформе (подписка от 1 950 ₽/мес или лицензия 590 тыс ₽/год) — стоимость инструмента, а НЕ комиссия с проекта. Два потока дохода партнёра: разовая доля с проектов + рекуррент с поддержки, доработок и лицензий.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440680"/>
            <a:ext cx="7406640" cy="84124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440680"/>
            <a:ext cx="7132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FFFFFF"/>
                </a:solidFill>
                <a:latin typeface="Calibri"/>
              </a:rPr>
              <a:t>Платформа обучает адептов  →  Партнёр приводит и одобряет сделку  →  Адепт внедряет и поддерживает  →  Заказчик платит; партнёр берёт свою долю, не работая руками.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2025–26 — фокус на инструменте и стратегическом партнёрстве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D · Конкуренты · монетизация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E88D3"/>
                </a:solidFill>
                <a:latin typeface="Calibri"/>
              </a:rPr>
              <a:t>•  </a:t>
            </a:r>
            <a:r>
              <a:rPr sz="1350" b="1">
                <a:solidFill>
                  <a:srgbClr val="22303A"/>
                </a:solidFill>
                <a:latin typeface="Calibri"/>
              </a:rPr>
              <a:t>Трекшн:</a:t>
            </a:r>
            <a:r>
              <a:rPr sz="1350" b="0">
                <a:solidFill>
                  <a:srgbClr val="22303A"/>
                </a:solidFill>
                <a:latin typeface="Calibri"/>
              </a:rPr>
              <a:t> выручка 2022 → 2023 → 2024 = </a:t>
            </a:r>
            <a:r>
              <a:rPr sz="1350" b="1">
                <a:solidFill>
                  <a:srgbClr val="22303A"/>
                </a:solidFill>
                <a:latin typeface="Calibri"/>
              </a:rPr>
              <a:t>0,2 → 0,7 → 3,1 млн ₽</a:t>
            </a:r>
            <a:r>
              <a:rPr sz="1350" b="0">
                <a:solidFill>
                  <a:srgbClr val="22303A"/>
                </a:solidFill>
                <a:latin typeface="Calibri"/>
              </a:rPr>
              <a:t> (×4–5/год); 70 активных клиентов РФ/СНГ; 5 лицензий; 5 партнёров + 7 адептов зарабатывают; +300 адептов обучены; финалист SberUp; Продукт недели #1 Product Radar.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Фокус 2025–26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0">
                <a:solidFill>
                  <a:srgbClr val="22303A"/>
                </a:solidFill>
                <a:latin typeface="Calibri"/>
              </a:rPr>
              <a:t>Оттачивание инструмента и стратегическое партнёрство — не гонка за выручкой.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1">
                <a:solidFill>
                  <a:srgbClr val="22303A"/>
                </a:solidFill>
                <a:latin typeface="Calibri"/>
              </a:rPr>
              <a:t>5 активных партнёров</a:t>
            </a:r>
            <a:r>
              <a:rPr sz="1200" b="0">
                <a:solidFill>
                  <a:srgbClr val="22303A"/>
                </a:solidFill>
                <a:latin typeface="Calibri"/>
              </a:rPr>
              <a:t> уже зарабатывают; </a:t>
            </a:r>
            <a:r>
              <a:rPr sz="1200" b="1">
                <a:solidFill>
                  <a:srgbClr val="22303A"/>
                </a:solidFill>
                <a:latin typeface="Calibri"/>
              </a:rPr>
              <a:t>ещё 10</a:t>
            </a:r>
            <a:r>
              <a:rPr sz="1200" b="0">
                <a:solidFill>
                  <a:srgbClr val="22303A"/>
                </a:solidFill>
                <a:latin typeface="Calibri"/>
              </a:rPr>
              <a:t> знакомят своих заказчиков.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0">
                <a:solidFill>
                  <a:srgbClr val="22303A"/>
                </a:solidFill>
                <a:latin typeface="Calibri"/>
              </a:rPr>
              <a:t>КП поданы в </a:t>
            </a:r>
            <a:r>
              <a:rPr sz="1200" b="1">
                <a:solidFill>
                  <a:srgbClr val="22303A"/>
                </a:solidFill>
                <a:latin typeface="Calibri"/>
              </a:rPr>
              <a:t>ВТБ, Газпром нефть (ГПН)</a:t>
            </a:r>
            <a:r>
              <a:rPr sz="1200" b="0">
                <a:solidFill>
                  <a:srgbClr val="22303A"/>
                </a:solidFill>
                <a:latin typeface="Calibri"/>
              </a:rPr>
              <a:t> и др.; референс-проекты + адепты — фундамент экосистемы.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0">
                <a:solidFill>
                  <a:srgbClr val="22303A"/>
                </a:solidFill>
                <a:latin typeface="Calibri"/>
              </a:rPr>
              <a:t>Ноябрь 2025 — в </a:t>
            </a:r>
            <a:r>
              <a:rPr sz="1200" b="1">
                <a:solidFill>
                  <a:srgbClr val="22303A"/>
                </a:solidFill>
                <a:latin typeface="Calibri"/>
              </a:rPr>
              <a:t>Реестре ПО Минцифры</a:t>
            </a:r>
            <a:r>
              <a:rPr sz="1200" b="0">
                <a:solidFill>
                  <a:srgbClr val="22303A"/>
                </a:solidFill>
                <a:latin typeface="Calibri"/>
              </a:rPr>
              <a:t> (№30872); открытый стек, ИИ-интеграция, on-prem.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500"/>
              </a:spcAft>
            </a:pPr>
            <a:r>
              <a:rPr sz="1350" b="1">
                <a:solidFill>
                  <a:srgbClr val="1E88D3"/>
                </a:solidFill>
                <a:latin typeface="Calibri"/>
              </a:rPr>
              <a:t>•  </a:t>
            </a:r>
            <a:r>
              <a:rPr sz="1350" b="1">
                <a:solidFill>
                  <a:srgbClr val="22303A"/>
                </a:solidFill>
                <a:latin typeface="Calibri"/>
              </a:rPr>
              <a:t>Рынок:</a:t>
            </a:r>
            <a:r>
              <a:rPr sz="1350" b="0">
                <a:solidFill>
                  <a:srgbClr val="22303A"/>
                </a:solidFill>
                <a:latin typeface="Calibri"/>
              </a:rPr>
              <a:t> TAM </a:t>
            </a:r>
            <a:r>
              <a:rPr sz="1350" b="1">
                <a:solidFill>
                  <a:srgbClr val="22303A"/>
                </a:solidFill>
                <a:latin typeface="Calibri"/>
              </a:rPr>
              <a:t>4,5 трлн ₽</a:t>
            </a:r>
            <a:r>
              <a:rPr sz="1350" b="0">
                <a:solidFill>
                  <a:srgbClr val="22303A"/>
                </a:solidFill>
                <a:latin typeface="Calibri"/>
              </a:rPr>
              <a:t> ($44,5B) · SAM </a:t>
            </a:r>
            <a:r>
              <a:rPr sz="1350" b="1">
                <a:solidFill>
                  <a:srgbClr val="22303A"/>
                </a:solidFill>
                <a:latin typeface="Calibri"/>
              </a:rPr>
              <a:t>1,8 трлн ₽</a:t>
            </a:r>
            <a:r>
              <a:rPr sz="1350" b="0">
                <a:solidFill>
                  <a:srgbClr val="22303A"/>
                </a:solidFill>
                <a:latin typeface="Calibri"/>
              </a:rPr>
              <a:t> ($18B) · SOM </a:t>
            </a:r>
            <a:r>
              <a:rPr sz="1350" b="1">
                <a:solidFill>
                  <a:srgbClr val="22303A"/>
                </a:solidFill>
                <a:latin typeface="Calibri"/>
              </a:rPr>
              <a:t>4 млрд ₽</a:t>
            </a:r>
            <a:r>
              <a:rPr sz="1350" b="0">
                <a:solidFill>
                  <a:srgbClr val="22303A"/>
                </a:solidFill>
                <a:latin typeface="Calibri"/>
              </a:rPr>
              <a:t> ($40M); CAGR </a:t>
            </a:r>
            <a:r>
              <a:rPr sz="1350" b="1">
                <a:solidFill>
                  <a:srgbClr val="22303A"/>
                </a:solidFill>
                <a:latin typeface="Calibri"/>
              </a:rPr>
              <a:t>19,2%</a:t>
            </a:r>
            <a:r>
              <a:rPr sz="1350" b="0">
                <a:solidFill>
                  <a:srgbClr val="22303A"/>
                </a:solidFill>
                <a:latin typeface="Calibri"/>
              </a:rPr>
              <a:t>; мировой low-code → </a:t>
            </a:r>
            <a:r>
              <a:rPr sz="1350" b="1">
                <a:solidFill>
                  <a:srgbClr val="22303A"/>
                </a:solidFill>
                <a:latin typeface="Calibri"/>
              </a:rPr>
              <a:t>$77 млрд к 2030</a:t>
            </a:r>
            <a:r>
              <a:rPr sz="1350" b="0">
                <a:solidFill>
                  <a:srgbClr val="22303A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69B8E"/>
                </a:solidFill>
                <a:latin typeface="Calibri"/>
              </a:rPr>
              <a:t>•  </a:t>
            </a:r>
            <a:r>
              <a:rPr sz="1350" b="1">
                <a:solidFill>
                  <a:srgbClr val="0E5A8F"/>
                </a:solidFill>
                <a:latin typeface="Calibri"/>
              </a:rPr>
              <a:t>Отдела продаж нет и не будет — приходят и платят органически. Партнёр делает спрос системным.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Опытная команда, проверяемая технология, готовы дать доступ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D · Конкуренты · монетизация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E88D3"/>
                </a:solidFill>
                <a:latin typeface="Calibri"/>
              </a:rPr>
              <a:t>•  </a:t>
            </a:r>
            <a:r>
              <a:rPr sz="1350" b="1">
                <a:solidFill>
                  <a:srgbClr val="22303A"/>
                </a:solidFill>
                <a:latin typeface="Calibri"/>
              </a:rPr>
              <a:t>Команда:</a:t>
            </a:r>
            <a:r>
              <a:rPr sz="1350" b="0">
                <a:solidFill>
                  <a:srgbClr val="22303A"/>
                </a:solidFill>
                <a:latin typeface="Calibri"/>
              </a:rPr>
              <a:t> CEO Алексей Семёнов (разработчик ядра; Citi, MTS, Neoflex, ВТБ, Сбер), CTO Александр Орехов (highload, 15 лет), аналитики Ким Артамонов и Денис Гаврилов; +300 адептов.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E88D3"/>
                </a:solidFill>
                <a:latin typeface="Calibri"/>
              </a:rPr>
              <a:t>•  </a:t>
            </a:r>
            <a:r>
              <a:rPr sz="1350" b="1">
                <a:solidFill>
                  <a:srgbClr val="22303A"/>
                </a:solidFill>
                <a:latin typeface="Calibri"/>
              </a:rPr>
              <a:t>Пруфы:</a:t>
            </a:r>
            <a:r>
              <a:rPr sz="1350" b="0">
                <a:solidFill>
                  <a:srgbClr val="22303A"/>
                </a:solidFill>
                <a:latin typeface="Calibri"/>
              </a:rPr>
              <a:t> патенты (Google Patents RU/US), боевой репозиторий github.com/ideav/crm (3700+ тикетов), публикации на Хабре, реестр Минцифры, SberUp.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500"/>
              </a:spcAft>
            </a:pPr>
            <a:r>
              <a:rPr sz="1500" b="1">
                <a:solidFill>
                  <a:srgbClr val="0E5A8F"/>
                </a:solidFill>
                <a:latin typeface="Calibri"/>
              </a:rPr>
              <a:t>Оффер партнёру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0">
                <a:solidFill>
                  <a:srgbClr val="22303A"/>
                </a:solidFill>
                <a:latin typeface="Calibri"/>
              </a:rPr>
              <a:t>Продукт в портфель без затрат на разработку — на готовом запатентованном ядре.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0">
                <a:solidFill>
                  <a:srgbClr val="22303A"/>
                </a:solidFill>
                <a:latin typeface="Calibri"/>
              </a:rPr>
              <a:t>Обучение и сертификация адептов; вы даёте канал и одобряете сделки. Доля с проектов + рекуррент с подписок/поддержки.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9B8E"/>
                </a:solidFill>
                <a:latin typeface="Calibri"/>
              </a:rPr>
              <a:t>      –  </a:t>
            </a:r>
            <a:r>
              <a:rPr sz="1200" b="0">
                <a:solidFill>
                  <a:srgbClr val="22303A"/>
                </a:solidFill>
                <a:latin typeface="Calibri"/>
              </a:rPr>
              <a:t>Готовые форматы и референс-проекты; маркетинговая и техническая поддержка; гибкие модели (реселлер / внедренческий / стратегический / эксклюзивный).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500"/>
              </a:spcAft>
            </a:pPr>
            <a:r>
              <a:rPr sz="1350" b="1">
                <a:solidFill>
                  <a:srgbClr val="1E88D3"/>
                </a:solidFill>
                <a:latin typeface="Calibri"/>
              </a:rPr>
              <a:t>•  </a:t>
            </a:r>
            <a:r>
              <a:rPr sz="1350" b="1">
                <a:solidFill>
                  <a:srgbClr val="22303A"/>
                </a:solidFill>
                <a:latin typeface="Calibri"/>
              </a:rPr>
              <a:t>Next steps:</a:t>
            </a:r>
            <a:r>
              <a:rPr sz="1350" b="0">
                <a:solidFill>
                  <a:srgbClr val="22303A"/>
                </a:solidFill>
                <a:latin typeface="Calibri"/>
              </a:rPr>
              <a:t> 1) демо + доступ к боевым проектам  2) пилот на одном заказчике  3) обучение первых адептов  4) партнёрское соглашение.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74920"/>
            <a:ext cx="11185855" cy="5486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22303A"/>
                </a:solidFill>
                <a:latin typeface="Calibri"/>
              </a:rPr>
              <a:t>Алексей Семёнов, CEO   ·   Telegram @qdmadept   ·   abc@integram.io   ·   +7 (995) 506-01-67   ·   ideav.ru   ·   help.integram.io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669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911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Calibri"/>
              </a:rPr>
              <a:t>Избавим бизнес от рутины и защитим данные. «Tetra Pak в сфере IT».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1E8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908273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Calibri"/>
              </a:rPr>
              <a:t>Приложение (по запросу заказчика / партнёра)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0"/>
            <a:ext cx="25146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AFCBE4"/>
                </a:solidFill>
                <a:latin typeface="Calibri"/>
              </a:rPr>
              <a:t>D · Конкуренты · монетизация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Технические замеры VecMory — сравнение с pgvector / Neo4j, TCO-таблица.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Разбор кейсов подробнее — скриншоты, ТЗ, чек.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Безопасность и отказоустойчивость — детально (SaaS / on-prem / air-gap, RPO/RTO, 152-ФЗ / КИИ).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Патентные документы, выписка из реестра Минцифры.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E88D3"/>
                </a:solidFill>
                <a:latin typeface="Calibri"/>
              </a:rPr>
              <a:t>•  </a:t>
            </a:r>
            <a:r>
              <a:rPr sz="1600" b="0">
                <a:solidFill>
                  <a:srgbClr val="22303A"/>
                </a:solidFill>
                <a:latin typeface="Calibri"/>
              </a:rPr>
              <a:t>Прайс и партнёрский договор.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6A7886"/>
                </a:solidFill>
                <a:latin typeface="Calibri"/>
              </a:rPr>
              <a:t>ИНТЕГРАМ · партнёрская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6A788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